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c28ecc1f224966" /><Relationship Type="http://schemas.openxmlformats.org/officeDocument/2006/relationships/extended-properties" Target="/docProps/app.xml" Id="R4f5eedde684a4ed5" /><Relationship Type="http://schemas.openxmlformats.org/officeDocument/2006/relationships/officeDocument" Target="/ppt/presentation.xml" Id="Rca2f609e8fb440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beff52b2e349d7"/>
  </p:sldMasterIdLst>
  <p:notesMasterIdLst>
    <p:notesMasterId xmlns:r="http://schemas.openxmlformats.org/officeDocument/2006/relationships" r:id="R27d6dbb864304fb6"/>
  </p:notesMasterIdLst>
  <p:sldIdLst>
    <p:sldId xmlns:r="http://schemas.openxmlformats.org/officeDocument/2006/relationships" id="256" r:id="R76545ee73a304cd1"/>
    <p:sldId xmlns:r="http://schemas.openxmlformats.org/officeDocument/2006/relationships" id="257" r:id="Rfedd5bfb3b544022"/>
    <p:sldId xmlns:r="http://schemas.openxmlformats.org/officeDocument/2006/relationships" id="258" r:id="R4f4f80cf23644e22"/>
    <p:sldId xmlns:r="http://schemas.openxmlformats.org/officeDocument/2006/relationships" id="259" r:id="Rcbf9e0e62137445b"/>
    <p:sldId xmlns:r="http://schemas.openxmlformats.org/officeDocument/2006/relationships" id="260" r:id="R25e0ba6b9a0f41e6"/>
    <p:sldId xmlns:r="http://schemas.openxmlformats.org/officeDocument/2006/relationships" id="261" r:id="Rc0ac434c346c4d94"/>
    <p:sldId xmlns:r="http://schemas.openxmlformats.org/officeDocument/2006/relationships" id="262" r:id="Re4f2a46c959d49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ed2670315c4f37" /><Relationship Type="http://schemas.openxmlformats.org/officeDocument/2006/relationships/slideMaster" Target="/ppt/slideMasters/slideMaster1.xml" Id="Rdebeff52b2e349d7" /><Relationship Type="http://schemas.openxmlformats.org/officeDocument/2006/relationships/notesMaster" Target="/ppt/notesMasters/notesMaster1.xml" Id="R27d6dbb864304fb6" /><Relationship Type="http://schemas.openxmlformats.org/officeDocument/2006/relationships/presProps" Target="/ppt/presProps.xml" Id="R46c577984a9643d8" /><Relationship Type="http://schemas.openxmlformats.org/officeDocument/2006/relationships/tableStyles" Target="/ppt/tableStyles.xml" Id="Reae3d4cbb9fc4280" /><Relationship Type="http://schemas.openxmlformats.org/officeDocument/2006/relationships/slide" Target="/ppt/slides/slide1.xml" Id="R76545ee73a304cd1" /><Relationship Type="http://schemas.openxmlformats.org/officeDocument/2006/relationships/slide" Target="/ppt/slides/slide2.xml" Id="Rfedd5bfb3b544022" /><Relationship Type="http://schemas.openxmlformats.org/officeDocument/2006/relationships/slide" Target="/ppt/slides/slide3.xml" Id="R4f4f80cf23644e22" /><Relationship Type="http://schemas.openxmlformats.org/officeDocument/2006/relationships/slide" Target="/ppt/slides/slide4.xml" Id="Rcbf9e0e62137445b" /><Relationship Type="http://schemas.openxmlformats.org/officeDocument/2006/relationships/slide" Target="/ppt/slides/slide5.xml" Id="R25e0ba6b9a0f41e6" /><Relationship Type="http://schemas.openxmlformats.org/officeDocument/2006/relationships/slide" Target="/ppt/slides/slide6.xml" Id="Rc0ac434c346c4d94" /><Relationship Type="http://schemas.openxmlformats.org/officeDocument/2006/relationships/slide" Target="/ppt/slides/slide7.xml" Id="Re4f2a46c959d49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363497fe1e4c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2765598054477f" /><Relationship Type="http://schemas.openxmlformats.org/officeDocument/2006/relationships/notesMaster" Target="/ppt/notesMasters/notesMaster1.xml" Id="Raafbbe9647d04a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b979ec65184025" /><Relationship Type="http://schemas.openxmlformats.org/officeDocument/2006/relationships/notesMaster" Target="/ppt/notesMasters/notesMaster1.xml" Id="R176b8b06bcaa45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8cee890eef44a3" /><Relationship Type="http://schemas.openxmlformats.org/officeDocument/2006/relationships/notesMaster" Target="/ppt/notesMasters/notesMaster1.xml" Id="Rdffcee58b7d040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81ce215fd54e64" /><Relationship Type="http://schemas.openxmlformats.org/officeDocument/2006/relationships/notesMaster" Target="/ppt/notesMasters/notesMaster1.xml" Id="R58ca7f28a41a4e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6b83a492514b57" /><Relationship Type="http://schemas.openxmlformats.org/officeDocument/2006/relationships/notesMaster" Target="/ppt/notesMasters/notesMaster1.xml" Id="R1c8f46b4d9c645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2f2f3978b8430b" /><Relationship Type="http://schemas.openxmlformats.org/officeDocument/2006/relationships/notesMaster" Target="/ppt/notesMasters/notesMaster1.xml" Id="Rd710a44bc26042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1e0d255309475b" /><Relationship Type="http://schemas.openxmlformats.org/officeDocument/2006/relationships/notesMaster" Target="/ppt/notesMasters/notesMaster1.xml" Id="Ra2a8f478a2d542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организатора: HackAlem AI Voice Router. Источники: docs/ARCHITECTURE.md, docs/ACCEPTANCE.md и каталог организатора. Сценарии, поля и действия — размеры каталога, не показатели качества. Текущий release 901e228, Vercel Ready 17:38 23.09.2026. Клиентские снимки соответствуют 9688e01, операторский — 901e228.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изображения: docs/assets/client-screen.png, фактический интерфейс локальной сборки 9688e01. Аннотации — отдельные редактируемые объекты, UI не нарисован. Микрофон при создании презентации не включался; наличие кнопки не доказывает слышимость.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изображения: docs/assets/supervisor-screen.png, реальный локальный UI 1440×960 сборки 901e228 с темой индивидуального медицинского страхования. Счётчики на снимке — состояние этой базы в момент съёмки, не оценка производительности. Принять и позвонить открывает подтверждение с темой и затем приглашает клиента в голосовой звонок. Пользователь подтвердил работу операторской связи в своём сеансе.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Редактируемая схема по src/lib/conversation.ts, router.ts, executor.ts, db.ts, operator-rtc.ts и docs/ARCHITECTURE.md. LLM выбирает сценарий, серверная политика и исполнитель определяют допустимые изменения. Внешние API страховщика, оплаты и SMS отсутствуют.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docs/ARCHITECTURE.md, docs/OPERATIONS.md, src/lib/conversation.ts и executor.ts. Подтверждение привязано к сохранённому плану. Секреты серверные. В журнале ошибок нет сырых текстов провайдера или персональных данных. Аудио проходит STT до текстовой маскировки.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Точный release и свидетельства: docs/CHECKPOINTS.md, docs/ACCEPTANCE.md. Production 901e228, Vercel Ready 17:38 23.09.2026; root подтвердил TypeScript/build. Скриншоты текущего UI. Цели задержки 500мс/1.5с не подтверждены. Пользователь сообщил о медленном ответе и проблеме слышимости в Codex IAB. Пользователь подтвердил работу операторской связи в своём сеансе. Новые языки и работа в других сетях требуют отдельной проверки.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Стартовые фразы сверены с официальными сценариями SC01, SC29, SC37. Это предлагаемый маршрут приёмки, а не утверждение о пройденном прогоне. Демо-коды ролей опубликованы владельцем в README и не входят в презентацию. Продукт: https://dir-echoes-voice-router.vercel.app ; репозиторий: https://github.com/BAITC-Hacks/hack-6d253846-dir-echoes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6235ee97474f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e5fef78ebe472f" /><Relationship Type="http://schemas.openxmlformats.org/officeDocument/2006/relationships/slideLayout" Target="/ppt/slideLayouts/slideLayout1.xml" Id="R77e2b0dc96b84c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e2b0dc96b84c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590200cd14a1a" /><Relationship Type="http://schemas.openxmlformats.org/officeDocument/2006/relationships/image" Target="/ppt/media/image.png" Id="Rd3bfc6fe433448ae" /><Relationship Type="http://schemas.openxmlformats.org/officeDocument/2006/relationships/notesSlide" Target="/ppt/notesSlides/notesSlide1.xml" Id="R730da00e33b14a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0fadbed5b41ed" /><Relationship Type="http://schemas.openxmlformats.org/officeDocument/2006/relationships/image" Target="/ppt/media/image.jpeg" Id="R6dc7daf1f8d448c7" /><Relationship Type="http://schemas.openxmlformats.org/officeDocument/2006/relationships/notesSlide" Target="/ppt/notesSlides/notesSlide2.xml" Id="R573244b7123847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2357aad7444ce" /><Relationship Type="http://schemas.openxmlformats.org/officeDocument/2006/relationships/image" Target="/ppt/media/image2.jpeg" Id="R0669f7df76df43e5" /><Relationship Type="http://schemas.openxmlformats.org/officeDocument/2006/relationships/notesSlide" Target="/ppt/notesSlides/notesSlide3.xml" Id="R5f84ce74a7ec45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12179159f436f" /><Relationship Type="http://schemas.openxmlformats.org/officeDocument/2006/relationships/notesSlide" Target="/ppt/notesSlides/notesSlide4.xml" Id="R997abc227a5d46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bdd716f91473d" /><Relationship Type="http://schemas.openxmlformats.org/officeDocument/2006/relationships/notesSlide" Target="/ppt/notesSlides/notesSlide5.xml" Id="Rd5d2bbb26bdc4f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0ab44cc354c7a" /><Relationship Type="http://schemas.openxmlformats.org/officeDocument/2006/relationships/notesSlide" Target="/ppt/notesSlides/notesSlide6.xml" Id="R3d2bcd2dd5224b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519c1db2a4762" /><Relationship Type="http://schemas.openxmlformats.org/officeDocument/2006/relationships/notesSlide" Target="/ppt/notesSlides/notesSlide7.xml" Id="R19e30f95e5bd4a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5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fc6fe433448ae"/>
          <a:stretch xmlns:a="http://schemas.openxmlformats.org/drawingml/2006/main"/>
        </p:blipFill>
        <p:spPr>
          <a:xfrm xmlns:a="http://schemas.openxmlformats.org/drawingml/2006/main">
            <a:off x="523875" y="552450"/>
            <a:ext cx="1143000" cy="95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B3A00-D1D6-418D-88DE-C847BB40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1125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3F6F5"/>
                </a:solidFill>
                <a:latin typeface="Arial"/>
                <a:ea typeface="Arial"/>
                <a:cs typeface="Arial"/>
              </a:rPr>
              <a:t>DIR ECHOES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0DB18-AC22-4192-A4B8-4247C556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28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8DDEB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8DDEB5"/>
                </a:solidFill>
                <a:latin typeface="Arial"/>
                <a:ea typeface="Arial"/>
                <a:cs typeface="Arial"/>
              </a:rPr>
              <a:t>Кейс 2: Voice Router —</a:t>
            </a:r>
          </a:p>
          <a:p xmlns:a="http://schemas.openxmlformats.org/drawingml/2006/main">
            <a:pPr>
              <a:defRPr sz="2475" b="1">
                <a:solidFill>
                  <a:srgbClr val="8DDEB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8DDEB5"/>
                </a:solidFill>
                <a:latin typeface="Arial"/>
                <a:ea typeface="Arial"/>
                <a:cs typeface="Arial"/>
              </a:rPr>
              <a:t>голосовой робот с AI-слоем выбора сценария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1D3F2-F152-4F18-8AEE-6F9832DE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1009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6F5"/>
                </a:solidFill>
                <a:latin typeface="Arial"/>
                <a:ea typeface="Arial"/>
                <a:cs typeface="Arial"/>
              </a:rPr>
              <a:t>Клиент формулирует вопрос свободно.</a:t>
            </a:r>
          </a:p>
          <a:p xmlns:a="http://schemas.openxmlformats.org/drawingml/2006/main">
            <a:pPr>
              <a:defRPr sz="2025" b="0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6F5"/>
                </a:solidFill>
                <a:latin typeface="Arial"/>
                <a:ea typeface="Arial"/>
                <a:cs typeface="Arial"/>
              </a:rPr>
              <a:t>Система выбирает сценарий и проверяет действие.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3C8C6-3931-4043-9161-8B9AE28D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7C4C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7C4C2"/>
                </a:solidFill>
                <a:latin typeface="Arial"/>
                <a:ea typeface="Arial"/>
                <a:cs typeface="Arial"/>
              </a:rPr>
              <a:t>40 сценариев    43 поля    31 действие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F5BE6-BD80-46F4-B5EB-C0526245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C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C2"/>
                </a:solidFill>
                <a:latin typeface="Arial"/>
                <a:ea typeface="Arial"/>
                <a:cs typeface="Arial"/>
              </a:rPr>
              <a:t>DIR ECHOES    HackAlem AI    1 / 7</a:t>
            </a:r>
          </a:p>
        </p:txBody>
      </p:sp>
    </p:spTree>
    <p:extLst>
      <p:ext uri="{BB962C8B-B14F-4D97-AF65-F5344CB8AC3E}">
        <p14:creationId xmlns:p14="http://schemas.microsoft.com/office/powerpoint/2010/main" val="2146048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5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20D2A-4F4A-404E-9952-FA9123F7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6F5"/>
                </a:solidFill>
                <a:latin typeface="Arial"/>
                <a:ea typeface="Arial"/>
                <a:cs typeface="Arial"/>
              </a:rPr>
              <a:t>Клиентский разговор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7daf1f8d448c7"/>
          <a:stretch xmlns:a="http://schemas.openxmlformats.org/drawingml/2006/main"/>
        </p:blipFill>
        <p:spPr>
          <a:xfrm xmlns:a="http://schemas.openxmlformats.org/drawingml/2006/main">
            <a:off x="538163" y="1133475"/>
            <a:ext cx="7972425" cy="53149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3B6A1-D4B1-444E-A412-97821450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553075"/>
            <a:ext cx="314325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DEB5"/>
          </a:solidFill>
          <a:ln xmlns:a="http://schemas.openxmlformats.org/drawingml/2006/main" w="19050">
            <a:solidFill>
              <a:srgbClr val="0E151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1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151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E3A94-AE5A-4D35-BD68-21ADA0E5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715000"/>
            <a:ext cx="1619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DDEB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B2300-2925-4C59-B72D-2C91E0D1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38325"/>
            <a:ext cx="314325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DEB5"/>
          </a:solidFill>
          <a:ln xmlns:a="http://schemas.openxmlformats.org/drawingml/2006/main" w="19050">
            <a:solidFill>
              <a:srgbClr val="0E151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1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151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247D3-0C0D-4D28-BF5A-3F0FE9CD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7640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DDEB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20AF4-07A0-4011-AD91-78C74F62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152525"/>
            <a:ext cx="314325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DEB5"/>
          </a:solidFill>
          <a:ln xmlns:a="http://schemas.openxmlformats.org/drawingml/2006/main" w="19050">
            <a:solidFill>
              <a:srgbClr val="0E151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1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151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7D212-799A-44CD-8CDA-9335551F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31445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DDEB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DDEB5"/>
                </a:solidFill>
                <a:latin typeface="Arial"/>
                <a:ea typeface="Arial"/>
                <a:cs typeface="Arial"/>
              </a:rPr>
              <a:t>1  Начать разговор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05BBE-EB3D-43A7-A85D-AD900110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66875"/>
            <a:ext cx="2647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6F5"/>
                </a:solidFill>
                <a:latin typeface="Arial"/>
                <a:ea typeface="Arial"/>
                <a:cs typeface="Arial"/>
              </a:rPr>
              <a:t>Микрофон, пауза, ответ AI и возврат к слушанию.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50B92-75CE-478E-B5FE-714A614C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9337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DDEB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DDEB5"/>
                </a:solidFill>
                <a:latin typeface="Arial"/>
                <a:ea typeface="Arial"/>
                <a:cs typeface="Arial"/>
              </a:rPr>
              <a:t>2  Чат и подсказки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25414-F5FD-4598-ACD3-13648FF3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286125"/>
            <a:ext cx="2647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6F5"/>
                </a:solidFill>
                <a:latin typeface="Arial"/>
                <a:ea typeface="Arial"/>
                <a:cs typeface="Arial"/>
              </a:rPr>
              <a:t>Текстовый резерв, текущая тема и логика ответа.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85D08-09EF-41BD-B996-F689D702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55295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DDEB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DDEB5"/>
                </a:solidFill>
                <a:latin typeface="Arial"/>
                <a:ea typeface="Arial"/>
                <a:cs typeface="Arial"/>
              </a:rPr>
              <a:t>3  Меню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02EC3-AE25-49DB-B431-23D2DD0E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05375"/>
            <a:ext cx="2647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6F5"/>
                </a:solidFill>
                <a:latin typeface="Arial"/>
                <a:ea typeface="Arial"/>
                <a:cs typeface="Arial"/>
              </a:rPr>
              <a:t>История, каталог и продолжение сохранённого разговора.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07E2D9-5C05-42AB-A54D-EC3DDBA2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C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C2"/>
                </a:solidFill>
                <a:latin typeface="Arial"/>
                <a:ea typeface="Arial"/>
                <a:cs typeface="Arial"/>
              </a:rPr>
              <a:t>DIR ECHOES    HackAlem AI    2 / 7</a:t>
            </a:r>
          </a:p>
        </p:txBody>
      </p:sp>
    </p:spTree>
    <p:extLst>
      <p:ext uri="{BB962C8B-B14F-4D97-AF65-F5344CB8AC3E}">
        <p14:creationId xmlns:p14="http://schemas.microsoft.com/office/powerpoint/2010/main" val="3245460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5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815E27-5CE7-4424-A5C4-6219D6DA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6F5"/>
                </a:solidFill>
                <a:latin typeface="Arial"/>
                <a:ea typeface="Arial"/>
                <a:cs typeface="Arial"/>
              </a:rPr>
              <a:t>Супервизор рядом с клиентом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9f7df76df43e5"/>
          <a:stretch xmlns:a="http://schemas.openxmlformats.org/drawingml/2006/main"/>
        </p:blipFill>
        <p:spPr>
          <a:xfrm xmlns:a="http://schemas.openxmlformats.org/drawingml/2006/main">
            <a:off x="538163" y="1133475"/>
            <a:ext cx="7972425" cy="53149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0833B-8CE2-4175-A833-5FA3D7DD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00325"/>
            <a:ext cx="314325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DEB5"/>
          </a:solidFill>
          <a:ln xmlns:a="http://schemas.openxmlformats.org/drawingml/2006/main" w="19050">
            <a:solidFill>
              <a:srgbClr val="0E151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1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151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F3817-0C9C-45A6-8D92-B48BB088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752725"/>
            <a:ext cx="133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DDEB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3C6B-5EFF-4361-99AF-0E83C162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752975"/>
            <a:ext cx="314325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DEB5"/>
          </a:solidFill>
          <a:ln xmlns:a="http://schemas.openxmlformats.org/drawingml/2006/main" w="19050">
            <a:solidFill>
              <a:srgbClr val="0E151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1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151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0F1F4-A4E8-424F-BB9F-269320FB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05375"/>
            <a:ext cx="1714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DDEB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A029D-8D28-478E-9933-D5D1896D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610225"/>
            <a:ext cx="314325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DEB5"/>
          </a:solidFill>
          <a:ln xmlns:a="http://schemas.openxmlformats.org/drawingml/2006/main" w="19050">
            <a:solidFill>
              <a:srgbClr val="0E151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1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151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BCEDE-48AC-4639-96FA-6D84166F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31445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DDEB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DDEB5"/>
                </a:solidFill>
                <a:latin typeface="Arial"/>
                <a:ea typeface="Arial"/>
                <a:cs typeface="Arial"/>
              </a:rPr>
              <a:t>1  Фильтры и LIVE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634C1-0992-400D-B040-5480C93B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66875"/>
            <a:ext cx="2647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6F5"/>
                </a:solidFill>
                <a:latin typeface="Arial"/>
                <a:ea typeface="Arial"/>
                <a:cs typeface="Arial"/>
              </a:rPr>
              <a:t>Состояние разговора и активность клиента.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85C93F-8B9F-4A3E-852B-7C355822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9337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DDEB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DDEB5"/>
                </a:solidFill>
                <a:latin typeface="Arial"/>
                <a:ea typeface="Arial"/>
                <a:cs typeface="Arial"/>
              </a:rPr>
              <a:t>2  Подключиться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E78B92-FAB5-486E-92C5-F1DF9DAB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286125"/>
            <a:ext cx="2647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6F5"/>
                </a:solidFill>
                <a:latin typeface="Arial"/>
                <a:ea typeface="Arial"/>
                <a:cs typeface="Arial"/>
              </a:rPr>
              <a:t>Оператор подтверждает звонок. Клиент принимает приглашение.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90B7F-214D-4890-AD28-D6F863E5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55295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DDEB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DDEB5"/>
                </a:solidFill>
                <a:latin typeface="Arial"/>
                <a:ea typeface="Arial"/>
                <a:cs typeface="Arial"/>
              </a:rPr>
              <a:t>3  Та же история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618536-6626-4666-9B24-9A874A46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05375"/>
            <a:ext cx="2647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6F5"/>
                </a:solidFill>
                <a:latin typeface="Arial"/>
                <a:ea typeface="Arial"/>
                <a:cs typeface="Arial"/>
              </a:rPr>
              <a:t>Текстовые ответы человека сохраняются в разговоре клиента.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3557E8-BFB7-42FA-B875-B9E89016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C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C2"/>
                </a:solidFill>
                <a:latin typeface="Arial"/>
                <a:ea typeface="Arial"/>
                <a:cs typeface="Arial"/>
              </a:rPr>
              <a:t>DIR ECHOES    HackAlem AI    3 / 7</a:t>
            </a:r>
          </a:p>
        </p:txBody>
      </p:sp>
    </p:spTree>
    <p:extLst>
      <p:ext uri="{BB962C8B-B14F-4D97-AF65-F5344CB8AC3E}">
        <p14:creationId xmlns:p14="http://schemas.microsoft.com/office/powerpoint/2010/main" val="9054934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5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D2A163-3D95-45FE-A6E0-78B00343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6F5"/>
                </a:solidFill>
                <a:latin typeface="Arial"/>
                <a:ea typeface="Arial"/>
                <a:cs typeface="Arial"/>
              </a:rPr>
              <a:t>Архитектура и граница решений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09BD1-FF07-4B17-A9A0-B9E65A34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24574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1A"/>
          </a:solidFill>
          <a:ln xmlns:a="http://schemas.openxmlformats.org/drawingml/2006/main" w="12383">
            <a:solidFill>
              <a:srgbClr val="37544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E4355-5EB6-46E4-9E08-9DC7031A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85975"/>
            <a:ext cx="21621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F6F5"/>
                </a:solidFill>
                <a:latin typeface="Arial"/>
                <a:ea typeface="Arial"/>
                <a:cs typeface="Arial"/>
              </a:rPr>
              <a:t>Речь или текст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30C86-5F66-47DE-86DA-03FF999D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562225"/>
            <a:ext cx="2162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4C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C4C2"/>
                </a:solidFill>
                <a:latin typeface="Arial"/>
                <a:ea typeface="Arial"/>
                <a:cs typeface="Arial"/>
              </a:rPr>
              <a:t>STT для голоса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DF0E2-644A-4F11-9DFB-041643D0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924050"/>
            <a:ext cx="24574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1A"/>
          </a:solidFill>
          <a:ln xmlns:a="http://schemas.openxmlformats.org/drawingml/2006/main" w="12383">
            <a:solidFill>
              <a:srgbClr val="37544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A86A9-CB11-40A1-8546-85AC6FA5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85975"/>
            <a:ext cx="21621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F6F5"/>
                </a:solidFill>
                <a:latin typeface="Arial"/>
                <a:ea typeface="Arial"/>
                <a:cs typeface="Arial"/>
              </a:rPr>
              <a:t>LLM router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85DF0-2214-40CF-ADB3-E9085291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2162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4C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C4C2"/>
                </a:solidFill>
                <a:latin typeface="Arial"/>
                <a:ea typeface="Arial"/>
                <a:cs typeface="Arial"/>
              </a:rPr>
              <a:t>Сценарий и поля</a:t>
            </a:r>
          </a:p>
        </p:txBody>
      </p:sp>
      <p:cxnSp>
        <p:nvCxnSpPr>
          <p:cNvPr id="31" name=""/>
          <p:cNvCxnSpPr>
            <a:stCxn xmlns:a="http://schemas.openxmlformats.org/drawingml/2006/main" id="2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90850" y="2547938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DEB5"/>
            </a:solidFill>
            <a:tailEnd type="arrow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4F383-C7A0-4F38-90A3-F1F146F7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24050"/>
            <a:ext cx="24574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1A"/>
          </a:solidFill>
          <a:ln xmlns:a="http://schemas.openxmlformats.org/drawingml/2006/main" w="12383">
            <a:solidFill>
              <a:srgbClr val="37544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0BDA8-E64A-427E-BDA7-524005C9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085975"/>
            <a:ext cx="21621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F6F5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81710-112C-4714-9FA4-00048117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562225"/>
            <a:ext cx="2162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4C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C4C2"/>
                </a:solidFill>
                <a:latin typeface="Arial"/>
                <a:ea typeface="Arial"/>
                <a:cs typeface="Arial"/>
              </a:rPr>
              <a:t>Владение и согласие</a:t>
            </a:r>
          </a:p>
        </p:txBody>
      </p:sp>
      <p:cxnSp>
        <p:nvCxnSpPr>
          <p:cNvPr id="35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95975" y="2547938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DEB5"/>
            </a:solidFill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AB9799-8FD2-4753-A920-D2CB05FD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924050"/>
            <a:ext cx="24574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1A"/>
          </a:solidFill>
          <a:ln xmlns:a="http://schemas.openxmlformats.org/drawingml/2006/main" w="12383">
            <a:solidFill>
              <a:srgbClr val="37544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EE74BF-88B1-4BC3-8462-D6D432A4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85975"/>
            <a:ext cx="21621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F6F5"/>
                </a:solidFill>
                <a:latin typeface="Arial"/>
                <a:ea typeface="Arial"/>
                <a:cs typeface="Arial"/>
              </a:rPr>
              <a:t>Исполнитель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648B1-2ECD-47D5-89F9-AF774CC1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62225"/>
            <a:ext cx="2162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4C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C4C2"/>
                </a:solidFill>
                <a:latin typeface="Arial"/>
                <a:ea typeface="Arial"/>
                <a:cs typeface="Arial"/>
              </a:rPr>
              <a:t>Сохранённый результат</a:t>
            </a:r>
          </a:p>
        </p:txBody>
      </p:sp>
      <p:cxnSp>
        <p:nvCxnSpPr>
          <p:cNvPr id="39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801100" y="2547938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DEB5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A626D4-FEA3-4517-9BCD-30916665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005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1A"/>
          </a:solidFill>
          <a:ln xmlns:a="http://schemas.openxmlformats.org/drawingml/2006/main" w="12383">
            <a:solidFill>
              <a:srgbClr val="37544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74A18C-E068-4BD2-B4DD-28567424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86250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DDE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DDEB5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EB52F5-0A7A-44F4-B5CC-EA1094AF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14875"/>
            <a:ext cx="2552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6F5"/>
                </a:solidFill>
                <a:latin typeface="Arial"/>
                <a:ea typeface="Arial"/>
                <a:cs typeface="Arial"/>
              </a:rPr>
              <a:t>История, действия, очередь</a:t>
            </a:r>
          </a:p>
        </p:txBody>
      </p:sp>
      <p:cxnSp>
        <p:nvCxnSpPr>
          <p:cNvPr id="43" name=""/>
          <p:cNvCxnSpPr>
            <a:stCxn xmlns:a="http://schemas.openxmlformats.org/drawingml/2006/main" id="13" idx="2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9239250" y="3171825"/>
            <a:ext cx="1238250" cy="1476375"/>
          </a:xfrm>
          <a:prstGeom xmlns:a="http://schemas.openxmlformats.org/drawingml/2006/main" prst="bentConnector5">
            <a:avLst>
              <a:gd name="adj1" fmla="val 0"/>
              <a:gd name="adj2" fmla="val 15484"/>
              <a:gd name="adj3" fmla="val 81538"/>
            </a:avLst>
          </a:prstGeom>
          <a:ln xmlns:a="http://schemas.openxmlformats.org/drawingml/2006/main" w="19050">
            <a:solidFill>
              <a:srgbClr val="8DDEB5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CB25EE-53C0-4B7E-B44B-9905E851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4810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6F5"/>
                </a:solidFill>
                <a:latin typeface="Arial"/>
                <a:ea typeface="Arial"/>
                <a:cs typeface="Arial"/>
              </a:rPr>
              <a:t>Ответ опирается на результат</a:t>
            </a:r>
          </a:p>
          <a:p xmlns:a="http://schemas.openxmlformats.org/drawingml/2006/main">
            <a:pPr>
              <a:defRPr sz="2175" b="0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6F5"/>
                </a:solidFill>
                <a:latin typeface="Arial"/>
                <a:ea typeface="Arial"/>
                <a:cs typeface="Arial"/>
              </a:rPr>
              <a:t>TTS воспроизводит его клиенту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9DE167-3E8B-4557-A762-88A66D48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95925"/>
            <a:ext cx="10620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7C4C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7C4C2"/>
                </a:solidFill>
                <a:latin typeface="Arial"/>
                <a:ea typeface="Arial"/>
                <a:cs typeface="Arial"/>
              </a:rPr>
              <a:t>История, поля и незавершённые темы сохраняются в PostgreSQL.</a:t>
            </a:r>
          </a:p>
          <a:p xmlns:a="http://schemas.openxmlformats.org/drawingml/2006/main">
            <a:pPr>
              <a:defRPr sz="1950" b="0">
                <a:solidFill>
                  <a:srgbClr val="B7C4C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7C4C2"/>
                </a:solidFill>
                <a:latin typeface="Arial"/>
                <a:ea typeface="Arial"/>
                <a:cs typeface="Arial"/>
              </a:rPr>
              <a:t>Супервизор видит контекст, trace и ошибки.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D3726F-8A62-4D38-9C17-C309EA89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C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C2"/>
                </a:solidFill>
                <a:latin typeface="Arial"/>
                <a:ea typeface="Arial"/>
                <a:cs typeface="Arial"/>
              </a:rPr>
              <a:t>DIR ECHOES    HackAlem AI    4 / 7</a:t>
            </a:r>
          </a:p>
        </p:txBody>
      </p:sp>
    </p:spTree>
    <p:extLst>
      <p:ext uri="{BB962C8B-B14F-4D97-AF65-F5344CB8AC3E}">
        <p14:creationId xmlns:p14="http://schemas.microsoft.com/office/powerpoint/2010/main" val="9106680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5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748BAA-324C-49AF-9EB2-923D73E7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6F5"/>
                </a:solidFill>
                <a:latin typeface="Arial"/>
                <a:ea typeface="Arial"/>
                <a:cs typeface="Arial"/>
              </a:rPr>
              <a:t>Контроль каждого изменения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88889-EB32-42F3-AE47-4BDB04F7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657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8DDEB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8DDE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76485-1457-480E-94B0-06064333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476375"/>
            <a:ext cx="1000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3F6F5"/>
                </a:solidFill>
                <a:latin typeface="Arial"/>
                <a:ea typeface="Arial"/>
                <a:cs typeface="Arial"/>
              </a:rPr>
              <a:t>Проверка записи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81542-3E63-41C9-A1D8-D9D88D90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52625"/>
            <a:ext cx="982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C4C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C4C2"/>
                </a:solidFill>
                <a:latin typeface="Arial"/>
                <a:ea typeface="Arial"/>
                <a:cs typeface="Arial"/>
              </a:rPr>
              <a:t>Идентификация и принадлежность полиса или заявления.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C6B12-204D-459E-BD7E-6D61632D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657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8DDEB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8DDE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87562-2CB5-410E-9420-C48F7DB7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71750"/>
            <a:ext cx="1000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3F6F5"/>
                </a:solidFill>
                <a:latin typeface="Arial"/>
                <a:ea typeface="Arial"/>
                <a:cs typeface="Arial"/>
              </a:rPr>
              <a:t>Явное согласие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D3F3C-D88C-4803-A29A-F95E8BA6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48000"/>
            <a:ext cx="982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C4C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C4C2"/>
                </a:solidFill>
                <a:latin typeface="Arial"/>
                <a:ea typeface="Arial"/>
                <a:cs typeface="Arial"/>
              </a:rPr>
              <a:t>Клиент видит параметры до изменения или внешнего запроса.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A3185-392A-44BA-9BD6-D1C136E3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657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8DDEB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8DDE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9A65F8-89B9-40A0-80DE-299C9C98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67125"/>
            <a:ext cx="1000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3F6F5"/>
                </a:solidFill>
                <a:latin typeface="Arial"/>
                <a:ea typeface="Arial"/>
                <a:cs typeface="Arial"/>
              </a:rPr>
              <a:t>Устойчивый повтор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87BEF-9CF0-4BB6-96A7-6662D192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43375"/>
            <a:ext cx="982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C4C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C4C2"/>
                </a:solidFill>
                <a:latin typeface="Arial"/>
                <a:ea typeface="Arial"/>
                <a:cs typeface="Arial"/>
              </a:rPr>
              <a:t>Идентификатор запроса и транзакция защищают от дублей.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B3CD9-7CA7-41F3-A0A6-EE58F153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657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8DDEB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8DDE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AA1F1-C516-4546-9EBC-E7B28ECC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62500"/>
            <a:ext cx="1000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3F6F5"/>
                </a:solidFill>
                <a:latin typeface="Arial"/>
                <a:ea typeface="Arial"/>
                <a:cs typeface="Arial"/>
              </a:rPr>
              <a:t>Наблюдаемость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1898F-7E0D-41AB-9276-DBAC3510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38750"/>
            <a:ext cx="982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C4C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C4C2"/>
                </a:solidFill>
                <a:latin typeface="Arial"/>
                <a:ea typeface="Arial"/>
                <a:cs typeface="Arial"/>
              </a:rPr>
              <a:t>История, версия каталога, безопасный журнал ошибок.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1D752-C9BC-496C-B307-7CA276CC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C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C2"/>
                </a:solidFill>
                <a:latin typeface="Arial"/>
                <a:ea typeface="Arial"/>
                <a:cs typeface="Arial"/>
              </a:rPr>
              <a:t>DIR ECHOES    HackAlem AI    5 / 7</a:t>
            </a:r>
          </a:p>
        </p:txBody>
      </p:sp>
    </p:spTree>
    <p:extLst>
      <p:ext uri="{BB962C8B-B14F-4D97-AF65-F5344CB8AC3E}">
        <p14:creationId xmlns:p14="http://schemas.microsoft.com/office/powerpoint/2010/main" val="7600953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15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E3792-7814-4995-A06D-81081938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6F5"/>
                </a:solidFill>
                <a:latin typeface="Arial"/>
                <a:ea typeface="Arial"/>
                <a:cs typeface="Arial"/>
              </a:rPr>
              <a:t>Что подтверждено и что проверить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6D0ED-7018-4051-9CA4-C4A5CE86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4810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DDEB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DDEB5"/>
                </a:solidFill>
                <a:latin typeface="Arial"/>
                <a:ea typeface="Arial"/>
                <a:cs typeface="Arial"/>
              </a:rPr>
              <a:t>Подтверждено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6CFE2-5E9B-4865-973A-E04207D9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51054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6F5"/>
                </a:solidFill>
                <a:latin typeface="Arial"/>
                <a:ea typeface="Arial"/>
                <a:cs typeface="Arial"/>
              </a:rPr>
              <a:t>Сборка и публикация</a:t>
            </a:r>
          </a:p>
          <a:p xmlns:a="http://schemas.openxmlformats.org/drawingml/2006/main">
            <a:pPr>
              <a:defRPr sz="2175" b="0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6F5"/>
                </a:solidFill>
                <a:latin typeface="Arial"/>
                <a:ea typeface="Arial"/>
                <a:cs typeface="Arial"/>
              </a:rPr>
              <a:t>Сохранённая история</a:t>
            </a:r>
          </a:p>
          <a:p xmlns:a="http://schemas.openxmlformats.org/drawingml/2006/main">
            <a:pPr>
              <a:defRPr sz="2175" b="0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6F5"/>
                </a:solidFill>
                <a:latin typeface="Arial"/>
                <a:ea typeface="Arial"/>
                <a:cs typeface="Arial"/>
              </a:rPr>
              <a:t>Связь с оператором:</a:t>
            </a:r>
          </a:p>
          <a:p xmlns:a="http://schemas.openxmlformats.org/drawingml/2006/main">
            <a:pPr>
              <a:defRPr sz="2175" b="0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6F5"/>
                </a:solidFill>
                <a:latin typeface="Arial"/>
                <a:ea typeface="Arial"/>
                <a:cs typeface="Arial"/>
              </a:rPr>
              <a:t>подтверждение пользователя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40F2C-408F-4253-B21F-2177EC81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314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DDEB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DDEB5"/>
                </a:solidFill>
                <a:latin typeface="Arial"/>
                <a:ea typeface="Arial"/>
                <a:cs typeface="Arial"/>
              </a:rPr>
              <a:t>Требует живой приёмки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5C859-BFB7-4FA1-8C81-3AFFFC79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71700"/>
            <a:ext cx="53340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6F5"/>
                </a:solidFill>
                <a:latin typeface="Arial"/>
                <a:ea typeface="Arial"/>
                <a:cs typeface="Arial"/>
              </a:rPr>
              <a:t>AI-аудио и задержка на устройстве</a:t>
            </a:r>
          </a:p>
          <a:p xmlns:a="http://schemas.openxmlformats.org/drawingml/2006/main">
            <a:pPr>
              <a:defRPr sz="2175" b="0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6F5"/>
                </a:solidFill>
                <a:latin typeface="Arial"/>
                <a:ea typeface="Arial"/>
                <a:cs typeface="Arial"/>
              </a:rPr>
              <a:t>Качество новых языков</a:t>
            </a:r>
          </a:p>
          <a:p xmlns:a="http://schemas.openxmlformats.org/drawingml/2006/main">
            <a:pPr>
              <a:defRPr sz="2175" b="0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6F5"/>
                </a:solidFill>
                <a:latin typeface="Arial"/>
                <a:ea typeface="Arial"/>
                <a:cs typeface="Arial"/>
              </a:rPr>
              <a:t>Голос в других сетях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DB868-E236-4A23-841E-61147B20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11106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3F6F5"/>
                </a:solidFill>
                <a:latin typeface="Arial"/>
                <a:ea typeface="Arial"/>
                <a:cs typeface="Arial"/>
              </a:rPr>
              <a:t>500 мс / 1,5 с — цели ТЗ, результат не подтверждён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4F57D-52E6-4A32-BBF8-C3DF1DDA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86400"/>
            <a:ext cx="11106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7C4C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7C4C2"/>
                </a:solidFill>
                <a:latin typeface="Arial"/>
                <a:ea typeface="Arial"/>
                <a:cs typeface="Arial"/>
              </a:rPr>
              <a:t>Внешние SMS, платёж и запись во внешнем сервисе остаются запросами в очереди.</a:t>
            </a:r>
          </a:p>
          <a:p xmlns:a="http://schemas.openxmlformats.org/drawingml/2006/main">
            <a:pPr>
              <a:defRPr sz="1725" b="0">
                <a:solidFill>
                  <a:srgbClr val="B7C4C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7C4C2"/>
                </a:solidFill>
                <a:latin typeface="Arial"/>
                <a:ea typeface="Arial"/>
                <a:cs typeface="Arial"/>
              </a:rPr>
              <a:t>Без TURN голос оператора зависит от сети. Используются только данные кейса.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477F5-B076-49F4-9A56-D0BE3611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C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C2"/>
                </a:solidFill>
                <a:latin typeface="Arial"/>
                <a:ea typeface="Arial"/>
                <a:cs typeface="Arial"/>
              </a:rPr>
              <a:t>DIR ECHOES    HackAlem AI    6 / 7</a:t>
            </a:r>
          </a:p>
        </p:txBody>
      </p:sp>
    </p:spTree>
    <p:extLst>
      <p:ext uri="{BB962C8B-B14F-4D97-AF65-F5344CB8AC3E}">
        <p14:creationId xmlns:p14="http://schemas.microsoft.com/office/powerpoint/2010/main" val="15934567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5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2D70AF-5345-42C2-8CE6-9A13502A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6F5"/>
                </a:solidFill>
                <a:latin typeface="Arial"/>
                <a:ea typeface="Arial"/>
                <a:cs typeface="Arial"/>
              </a:rPr>
              <a:t>Маршрут проверки для жюри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FCA00-456F-4D36-A8BF-93755A45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DDEB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DDEB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C89E8-52B6-4FF5-A18D-EC5A1286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285875"/>
            <a:ext cx="1028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F6F5"/>
                </a:solidFill>
                <a:latin typeface="Arial"/>
                <a:ea typeface="Arial"/>
                <a:cs typeface="Arial"/>
              </a:rPr>
              <a:t>Начать разговор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9466C-BB71-42BE-8AA2-C326CC27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685925"/>
            <a:ext cx="1028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C4C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C4C2"/>
                </a:solidFill>
                <a:latin typeface="Arial"/>
                <a:ea typeface="Arial"/>
                <a:cs typeface="Arial"/>
              </a:rPr>
              <a:t>SC01: «Сколько стоит обязательная страховка на машину?»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5E3D8-590E-47AD-BAC6-6749933A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DDEB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DDEB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E15E6-95E4-473F-AF4B-36FD9C3F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152650"/>
            <a:ext cx="1028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F6F5"/>
                </a:solidFill>
                <a:latin typeface="Arial"/>
                <a:ea typeface="Arial"/>
                <a:cs typeface="Arial"/>
              </a:rPr>
              <a:t>Проверить маршрут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ADA58-3C59-47ED-9B07-DDD70263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552700"/>
            <a:ext cx="1028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C4C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C4C2"/>
                </a:solidFill>
                <a:latin typeface="Arial"/>
                <a:ea typeface="Arial"/>
                <a:cs typeface="Arial"/>
              </a:rPr>
              <a:t>Сценарий, поля, уточнение и объяснение решения.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6B0E9-AA2A-424E-AC88-B408D0A8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19425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DDEB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DDEB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518EB-7B84-4396-B095-13A57AD3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019425"/>
            <a:ext cx="1028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F6F5"/>
                </a:solidFill>
                <a:latin typeface="Arial"/>
                <a:ea typeface="Arial"/>
                <a:cs typeface="Arial"/>
              </a:rPr>
              <a:t>Подтвердить действие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5691D-3781-4ECE-926A-06DA838F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419475"/>
            <a:ext cx="1028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C4C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C4C2"/>
                </a:solidFill>
                <a:latin typeface="Arial"/>
                <a:ea typeface="Arial"/>
                <a:cs typeface="Arial"/>
              </a:rPr>
              <a:t>SC29: смена почты. Сначала отказ, затем отдельное согласие.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CC712C-E58C-440F-9AEA-9E4F0F67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862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DDEB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DDEB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E56C1-9DBF-4952-9AE9-620AAC28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886200"/>
            <a:ext cx="1028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F6F5"/>
                </a:solidFill>
                <a:latin typeface="Arial"/>
                <a:ea typeface="Arial"/>
                <a:cs typeface="Arial"/>
              </a:rPr>
              <a:t>Открыть историю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0D80C-1CAC-43A6-A955-1B41D5C8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286250"/>
            <a:ext cx="1028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C4C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C4C2"/>
                </a:solidFill>
                <a:latin typeface="Arial"/>
                <a:ea typeface="Arial"/>
                <a:cs typeface="Arial"/>
              </a:rPr>
              <a:t>Перезагрузить страницу и продолжить сохранённый разговор.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5417F-585A-4EBC-9E71-82AC0364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52975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DDEB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DDEB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8E21A1-52CE-444C-AD36-9208FB1B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752975"/>
            <a:ext cx="1028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3F6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F6F5"/>
                </a:solidFill>
                <a:latin typeface="Arial"/>
                <a:ea typeface="Arial"/>
                <a:cs typeface="Arial"/>
              </a:rPr>
              <a:t>Позвать оператора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21E5A-B9CC-40A4-A85D-5D70081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153025"/>
            <a:ext cx="1028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C4C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C4C2"/>
                </a:solidFill>
                <a:latin typeface="Arial"/>
                <a:ea typeface="Arial"/>
                <a:cs typeface="Arial"/>
              </a:rPr>
              <a:t>SC37: «Соедините с оператором». Принять и ответить человеку.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9FE41E-D5F8-4EBD-BDDA-038E46BE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959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DDEB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DDEB5"/>
                </a:solidFill>
                <a:latin typeface="Arial"/>
                <a:ea typeface="Arial"/>
                <a:cs typeface="Arial"/>
              </a:rPr>
              <a:t>dir-echoes-voice-router.vercel.app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79749D-3556-4F9F-81F5-5677AD9B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C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C2"/>
                </a:solidFill>
                <a:latin typeface="Arial"/>
                <a:ea typeface="Arial"/>
                <a:cs typeface="Arial"/>
              </a:rPr>
              <a:t>DIR ECHOES    HackAlem AI    7 / 7</a:t>
            </a:r>
          </a:p>
        </p:txBody>
      </p:sp>
    </p:spTree>
    <p:extLst>
      <p:ext uri="{BB962C8B-B14F-4D97-AF65-F5344CB8AC3E}">
        <p14:creationId xmlns:p14="http://schemas.microsoft.com/office/powerpoint/2010/main" val="836873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2026-09-23T12:42:11.8170000Z</dcterms:created>
  <dcterms:modified xsi:type="dcterms:W3CDTF">2026-09-23T12:42:11.8170000Z</dcterms:modified>
</coreProperties>
</file>